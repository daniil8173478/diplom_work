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46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3227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25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39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38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11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451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228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928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141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465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0199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1881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115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772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205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6435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8FE93-F309-434D-8691-39A91D09C23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1FC2E-74A7-4143-8757-1F84E4032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6429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607DA-C384-0C0D-D21F-5CAEE861B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 ПРИЛОЖЕНИЯ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"Система мониторинга оборудования Росатом"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9B3B2C-80B7-A7B0-6DAE-7EFBE59A5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Подготовил: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Колков Даниил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405ИС-22</a:t>
            </a:r>
          </a:p>
        </p:txBody>
      </p:sp>
    </p:spTree>
    <p:extLst>
      <p:ext uri="{BB962C8B-B14F-4D97-AF65-F5344CB8AC3E}">
        <p14:creationId xmlns:p14="http://schemas.microsoft.com/office/powerpoint/2010/main" val="273458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B8256DF-4559-A5EC-47AB-3D8E03029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И ЦЕЛЬ ПРОЕКТА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FC6833-7A32-CF48-D52B-7015ED128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Актуальность: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598D311-DE58-28CF-8F2C-749A36994E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Необходимость непрерывного мониторинга критически важного оборудования</a:t>
            </a:r>
          </a:p>
          <a:p>
            <a:r>
              <a:rPr lang="ru-RU" dirty="0"/>
              <a:t>Ручной контроль неэффективен и подвержен ошибкам</a:t>
            </a:r>
          </a:p>
          <a:p>
            <a:r>
              <a:rPr lang="ru-RU" dirty="0"/>
              <a:t>Требуется оперативное реагирование на критические ситуации</a:t>
            </a:r>
          </a:p>
          <a:p>
            <a:r>
              <a:rPr lang="ru-RU" dirty="0"/>
              <a:t>Централизованное управление множеством единиц оборудования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18E9E33B-E8A7-20E0-103A-F95B44825A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Цель: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479592A-BEE9-D2E1-D215-1964DEBACA7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Создание мобильной системы мониторинга, обеспечивающей:</a:t>
            </a:r>
          </a:p>
          <a:p>
            <a:r>
              <a:rPr lang="ru-RU" dirty="0"/>
              <a:t>- Реальное время контроль параметров оборудования</a:t>
            </a:r>
          </a:p>
          <a:p>
            <a:r>
              <a:rPr lang="ru-RU" dirty="0"/>
              <a:t>- Автоматическое обнаружение аномалий</a:t>
            </a:r>
          </a:p>
          <a:p>
            <a:r>
              <a:rPr lang="ru-RU" dirty="0"/>
              <a:t>- Удобный интерфейс для всех категорий пользователей</a:t>
            </a:r>
          </a:p>
          <a:p>
            <a:r>
              <a:rPr lang="ru-RU" dirty="0"/>
              <a:t>- Масштабируемость и расширяемость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172377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2007C25-488A-67B6-6F26-C09E3FC2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СИСТЕМЫ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ACBDE17-F7FA-99C7-F853-0B3A21F5B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Компоненты: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6C9C409-6F26-660C-13DD-7C34909A9C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Android </a:t>
            </a:r>
            <a:r>
              <a:rPr lang="ru-RU" dirty="0"/>
              <a:t>приложение (</a:t>
            </a:r>
            <a:r>
              <a:rPr lang="en-US" dirty="0"/>
              <a:t>Kotlin, Jetpack Compose)</a:t>
            </a:r>
          </a:p>
          <a:p>
            <a:r>
              <a:rPr lang="en-US" dirty="0" err="1"/>
              <a:t>FastAPI</a:t>
            </a:r>
            <a:r>
              <a:rPr lang="en-US" dirty="0"/>
              <a:t> backend (Python)</a:t>
            </a:r>
          </a:p>
          <a:p>
            <a:r>
              <a:rPr lang="en-US" dirty="0"/>
              <a:t>MySQL </a:t>
            </a:r>
            <a:r>
              <a:rPr lang="ru-RU" dirty="0"/>
              <a:t>база данных</a:t>
            </a:r>
          </a:p>
          <a:p>
            <a:r>
              <a:rPr lang="ru-RU" dirty="0"/>
              <a:t>Система генерации данных (</a:t>
            </a:r>
            <a:r>
              <a:rPr lang="en-US" dirty="0"/>
              <a:t>Python, </a:t>
            </a:r>
            <a:r>
              <a:rPr lang="en-US" dirty="0" err="1"/>
              <a:t>systemd</a:t>
            </a:r>
            <a:r>
              <a:rPr lang="en-US" dirty="0"/>
              <a:t> timer)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4A3D5936-FAC7-BD12-6D5D-71AC7DFBB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Ключевые особенности: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4569D28-8107-20EF-601B-04B8C766309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Клиент-серверная архитектура</a:t>
            </a:r>
          </a:p>
          <a:p>
            <a:r>
              <a:rPr lang="ru-RU" dirty="0"/>
              <a:t>MVVM паттерн на клиенте</a:t>
            </a:r>
          </a:p>
          <a:p>
            <a:r>
              <a:rPr lang="ru-RU" dirty="0" err="1"/>
              <a:t>RESTful</a:t>
            </a:r>
            <a:r>
              <a:rPr lang="ru-RU" dirty="0"/>
              <a:t> API</a:t>
            </a:r>
          </a:p>
          <a:p>
            <a:r>
              <a:rPr lang="ru-RU" dirty="0"/>
              <a:t>Реальное время - обновление данных каждые 10 минут</a:t>
            </a:r>
          </a:p>
          <a:p>
            <a:r>
              <a:rPr lang="ru-RU" dirty="0"/>
              <a:t>Полиморфизм - поддержка различных типов оборудования</a:t>
            </a:r>
          </a:p>
        </p:txBody>
      </p:sp>
    </p:spTree>
    <p:extLst>
      <p:ext uri="{BB962C8B-B14F-4D97-AF65-F5344CB8AC3E}">
        <p14:creationId xmlns:p14="http://schemas.microsoft.com/office/powerpoint/2010/main" val="759684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10DEB8F-0C18-EA00-48DD-21C7AF54C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ФУНКЦИОНАЛЬНОСТЬ – МОНИТОРИНГ</a:t>
            </a:r>
            <a:br>
              <a:rPr lang="ru-RU" dirty="0"/>
            </a:br>
            <a:r>
              <a:rPr lang="ru-RU" dirty="0"/>
              <a:t>Основные возможности: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80845A2-4EA1-A0C8-AD9E-0313EFB3C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1. Просмотр оборудования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70A1C08-1818-0E6F-ABCC-97EDACFEA838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ru-RU" dirty="0"/>
              <a:t> • Каталогизация по типам (Печи, Станки, Реакторы)</a:t>
            </a:r>
          </a:p>
          <a:p>
            <a:r>
              <a:rPr lang="ru-RU" dirty="0"/>
              <a:t>   • Визуальная индикация статуса (цветные рамки)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3A25C1-789B-D895-CBC5-357829BBD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2. Мониторинг датчиков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0050E18-3480-F113-4DE5-3E463B8A1383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ru-RU" dirty="0"/>
              <a:t> • Температура, Давление, Мощность</a:t>
            </a:r>
          </a:p>
          <a:p>
            <a:r>
              <a:rPr lang="ru-RU" dirty="0"/>
              <a:t>   • Текущие значения с единицами измерения</a:t>
            </a:r>
          </a:p>
          <a:p>
            <a:r>
              <a:rPr lang="ru-RU" dirty="0"/>
              <a:t>   • Статус: Норма, Ниже нормы, Выше нормы, Критично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9DA5875-A6FE-6D4E-39B3-D95D093903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3. Визуализация данных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F5CCBFE-EAE3-C34C-4C1A-D06EB4785877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ru-RU" dirty="0"/>
              <a:t> • Интерактивные графики с </a:t>
            </a:r>
            <a:r>
              <a:rPr lang="ru-RU" dirty="0" err="1"/>
              <a:t>кастомной</a:t>
            </a:r>
            <a:r>
              <a:rPr lang="ru-RU" dirty="0"/>
              <a:t> отрисовкой</a:t>
            </a:r>
          </a:p>
          <a:p>
            <a:r>
              <a:rPr lang="ru-RU" dirty="0"/>
              <a:t>   • Выбор периода: Час (6 точек), День, Месяц, Все время</a:t>
            </a:r>
          </a:p>
          <a:p>
            <a:r>
              <a:rPr lang="ru-RU" dirty="0"/>
              <a:t>   • Цветовая индикация аномалий</a:t>
            </a:r>
          </a:p>
          <a:p>
            <a:r>
              <a:rPr lang="ru-RU" dirty="0"/>
              <a:t>   • Выделение нормального диапазона</a:t>
            </a:r>
          </a:p>
        </p:txBody>
      </p:sp>
    </p:spTree>
    <p:extLst>
      <p:ext uri="{BB962C8B-B14F-4D97-AF65-F5344CB8AC3E}">
        <p14:creationId xmlns:p14="http://schemas.microsoft.com/office/powerpoint/2010/main" val="407298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6E4F65C-4829-5953-2645-F6AE9B0F8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ФУНКЦИОНАЛЬНОСТЬ - УВЕДОМЛЕНИЯ И УПРАВЛЕНИЕ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5821BD-9F3E-E164-043F-1B1CEB15F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Система уведомлений: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E1DFCB0-2B8C-E62C-A006-42A45C3F92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Автоматическое обнаружение аномалий</a:t>
            </a:r>
          </a:p>
          <a:p>
            <a:r>
              <a:rPr lang="ru-RU" dirty="0"/>
              <a:t>Фильтрация по типу оборудования</a:t>
            </a:r>
          </a:p>
          <a:p>
            <a:r>
              <a:rPr lang="ru-RU" dirty="0"/>
              <a:t>Подтверждение обработки </a:t>
            </a:r>
            <a:r>
              <a:rPr lang="ru-RU" dirty="0" err="1"/>
              <a:t>алертов</a:t>
            </a:r>
            <a:endParaRPr lang="ru-RU" dirty="0"/>
          </a:p>
          <a:p>
            <a:r>
              <a:rPr lang="ru-RU" dirty="0"/>
              <a:t>Локальные уведомления в фоновом режиме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0A9FD47-77DC-9BD0-1A08-DC75B8718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Управление системой: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6A47EDCD-49A5-E20E-A405-F8F6E246907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Панель инженера: создание/удаление оборудования</a:t>
            </a:r>
          </a:p>
          <a:p>
            <a:r>
              <a:rPr lang="ru-RU" dirty="0"/>
              <a:t>Автоматическое создание датчиков при добавлении оборудования</a:t>
            </a:r>
          </a:p>
          <a:p>
            <a:r>
              <a:rPr lang="ru-RU" dirty="0"/>
              <a:t>Панель администратора: управление пользователями</a:t>
            </a:r>
          </a:p>
          <a:p>
            <a:r>
              <a:rPr lang="ru-RU" dirty="0"/>
              <a:t>Трехуровневая система ролей (Оператор, Инженер, Администратор)</a:t>
            </a:r>
          </a:p>
        </p:txBody>
      </p:sp>
    </p:spTree>
    <p:extLst>
      <p:ext uri="{BB962C8B-B14F-4D97-AF65-F5344CB8AC3E}">
        <p14:creationId xmlns:p14="http://schemas.microsoft.com/office/powerpoint/2010/main" val="2720047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6802C86-C4CA-E23C-8017-CB4AF564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ТЕХНИЧЕСКИЕ ОСОБЕННОСТИ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F9A595E-119E-1E3D-24E8-9D94E20D8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 (Android):</a:t>
            </a:r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1D395B4-6755-0D49-9C50-6DF09EE78AD6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en-US" dirty="0"/>
              <a:t>• Kotlin, Jetpack Compose</a:t>
            </a:r>
          </a:p>
          <a:p>
            <a:r>
              <a:rPr lang="en-US" dirty="0"/>
              <a:t>• </a:t>
            </a:r>
            <a:r>
              <a:rPr lang="ru-RU" dirty="0"/>
              <a:t>Архитектура: </a:t>
            </a:r>
            <a:r>
              <a:rPr lang="en-US" dirty="0"/>
              <a:t>MVVM</a:t>
            </a:r>
          </a:p>
          <a:p>
            <a:r>
              <a:rPr lang="en-US" dirty="0"/>
              <a:t>• Coroutines, Flow </a:t>
            </a:r>
            <a:r>
              <a:rPr lang="ru-RU" dirty="0"/>
              <a:t>для асинхронности</a:t>
            </a:r>
          </a:p>
          <a:p>
            <a:r>
              <a:rPr lang="ru-RU" dirty="0"/>
              <a:t>• </a:t>
            </a:r>
            <a:r>
              <a:rPr lang="ru-RU" dirty="0" err="1"/>
              <a:t>Кастомные</a:t>
            </a:r>
            <a:r>
              <a:rPr lang="ru-RU" dirty="0"/>
              <a:t> графики на </a:t>
            </a:r>
            <a:r>
              <a:rPr lang="en-US" dirty="0"/>
              <a:t>Canvas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2CA4E02-690E-77FA-EBD5-66C1A71DC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Backend: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5C85FE-76E1-1ACD-E775-C1CF9BC0716C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ru-RU" dirty="0"/>
              <a:t>• </a:t>
            </a:r>
            <a:r>
              <a:rPr lang="ru-RU" dirty="0" err="1"/>
              <a:t>FastAPI</a:t>
            </a:r>
            <a:r>
              <a:rPr lang="ru-RU" dirty="0"/>
              <a:t> (Python)</a:t>
            </a:r>
          </a:p>
          <a:p>
            <a:r>
              <a:rPr lang="ru-RU" dirty="0"/>
              <a:t>• MySQL база данных</a:t>
            </a:r>
          </a:p>
          <a:p>
            <a:r>
              <a:rPr lang="ru-RU" dirty="0"/>
              <a:t>• </a:t>
            </a:r>
            <a:r>
              <a:rPr lang="ru-RU" dirty="0" err="1"/>
              <a:t>PyMySQL</a:t>
            </a:r>
            <a:r>
              <a:rPr lang="ru-RU" dirty="0"/>
              <a:t> для работы с БД</a:t>
            </a:r>
          </a:p>
          <a:p>
            <a:r>
              <a:rPr lang="ru-RU" dirty="0"/>
              <a:t>• Автоматическая документация: </a:t>
            </a:r>
            <a:r>
              <a:rPr lang="ru-RU" dirty="0" err="1"/>
              <a:t>Swagger</a:t>
            </a:r>
            <a:r>
              <a:rPr lang="ru-RU" dirty="0"/>
              <a:t> UI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113FB3C2-E0B2-00FF-F462-27B0C3C5AD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Генерация данных: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1955015B-3BAB-C59C-F738-F4BA0B15B2A0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ru-RU" dirty="0"/>
              <a:t>• Циклическая генерация (низкие → нормальные → высокие значения)</a:t>
            </a:r>
          </a:p>
          <a:p>
            <a:r>
              <a:rPr lang="ru-RU" dirty="0"/>
              <a:t>• Обновление каждые 10 минут (</a:t>
            </a:r>
            <a:r>
              <a:rPr lang="ru-RU" dirty="0" err="1"/>
              <a:t>systemd</a:t>
            </a:r>
            <a:r>
              <a:rPr lang="ru-RU" dirty="0"/>
              <a:t> </a:t>
            </a:r>
            <a:r>
              <a:rPr lang="ru-RU" dirty="0" err="1"/>
              <a:t>timer</a:t>
            </a:r>
            <a:r>
              <a:rPr lang="ru-RU" dirty="0"/>
              <a:t>)</a:t>
            </a:r>
          </a:p>
          <a:p>
            <a:r>
              <a:rPr lang="ru-RU" dirty="0"/>
              <a:t>• Автоматическое включение новых датчиков</a:t>
            </a:r>
          </a:p>
        </p:txBody>
      </p:sp>
    </p:spTree>
    <p:extLst>
      <p:ext uri="{BB962C8B-B14F-4D97-AF65-F5344CB8AC3E}">
        <p14:creationId xmlns:p14="http://schemas.microsoft.com/office/powerpoint/2010/main" val="3041163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C15F0-1CA2-2BB8-9DF7-29E56B7B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 И НАДЕЖНОСТЬ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E0B86C-D1EF-D731-F06D-057D9CFCB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Аутентификация и авторизация: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8813D96-E2AE-DFB3-E556-F207169BA91B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ru-RU" dirty="0"/>
              <a:t>• Система логинов и паролей</a:t>
            </a:r>
          </a:p>
          <a:p>
            <a:r>
              <a:rPr lang="ru-RU" dirty="0"/>
              <a:t>• Валидация данных при регистрации</a:t>
            </a:r>
          </a:p>
          <a:p>
            <a:r>
              <a:rPr lang="ru-RU" dirty="0"/>
              <a:t>• Трехуровневая система ролей</a:t>
            </a:r>
          </a:p>
          <a:p>
            <a:r>
              <a:rPr lang="ru-RU" dirty="0"/>
              <a:t>• Хранение токенов в защищенном хранилище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1620777-C165-1FFD-4FD2-DE9E511C3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Защита данных: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D5180A6-1D4E-0D09-D44D-978C0CA38BE9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ru-RU" dirty="0"/>
              <a:t>• Шифрование паролей в базе данных</a:t>
            </a:r>
          </a:p>
          <a:p>
            <a:r>
              <a:rPr lang="ru-RU" dirty="0"/>
              <a:t>• Валидация входных данных на клиенте и сервере</a:t>
            </a:r>
          </a:p>
          <a:p>
            <a:r>
              <a:rPr lang="ru-RU" dirty="0"/>
              <a:t>• Безопасная передача данных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3A385A7-6054-CE89-76B6-A103BEEA7B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Надежность: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9AF3AF2-E803-49C6-A3EB-745200E84AA4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ru-RU" dirty="0"/>
              <a:t>• Обработка ошибок сети</a:t>
            </a:r>
          </a:p>
          <a:p>
            <a:r>
              <a:rPr lang="ru-RU" dirty="0"/>
              <a:t>• Индикаторы загрузки</a:t>
            </a:r>
          </a:p>
          <a:p>
            <a:r>
              <a:rPr lang="ru-RU" dirty="0"/>
              <a:t>• Автоматическое восстановление соединения</a:t>
            </a:r>
          </a:p>
          <a:p>
            <a:r>
              <a:rPr lang="ru-RU" dirty="0"/>
              <a:t>• Оптимизированные запросы к базе данных</a:t>
            </a:r>
          </a:p>
        </p:txBody>
      </p:sp>
    </p:spTree>
    <p:extLst>
      <p:ext uri="{BB962C8B-B14F-4D97-AF65-F5344CB8AC3E}">
        <p14:creationId xmlns:p14="http://schemas.microsoft.com/office/powerpoint/2010/main" val="125538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359C9CB-EB80-F55E-E3EE-8C8D4E3A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8FD5844-7EE0-EDCD-0A1A-138D5D3C9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Достигнутые результаты: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A5AA502-8D01-DF1C-206E-1375C3786694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✓ Полнофункциональная система мониторинга</a:t>
            </a:r>
          </a:p>
          <a:p>
            <a:r>
              <a:rPr lang="ru-RU" dirty="0"/>
              <a:t>✓ Мониторинг в реальном времени</a:t>
            </a:r>
          </a:p>
          <a:p>
            <a:r>
              <a:rPr lang="ru-RU" dirty="0"/>
              <a:t>✓ Система уведомлений с фильтрацией</a:t>
            </a:r>
          </a:p>
          <a:p>
            <a:r>
              <a:rPr lang="ru-RU" dirty="0"/>
              <a:t>✓ Управление оборудованием с автоматическим созданием датчиков</a:t>
            </a:r>
          </a:p>
          <a:p>
            <a:r>
              <a:rPr lang="ru-RU" dirty="0"/>
              <a:t>✓ Удобный интерфейс с </a:t>
            </a:r>
            <a:r>
              <a:rPr lang="ru-RU" dirty="0" err="1"/>
              <a:t>кастомными</a:t>
            </a:r>
            <a:r>
              <a:rPr lang="ru-RU" dirty="0"/>
              <a:t> графиками</a:t>
            </a:r>
          </a:p>
          <a:p>
            <a:r>
              <a:rPr lang="ru-RU" dirty="0"/>
              <a:t>✓ Масштабируемость и расширяемость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6907BB0-A51E-A85D-EE91-3CD45DC4E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Преимущества системы: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5B92C2F9-438B-BAB9-5CC2-0AD5F172D529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ru-RU" dirty="0"/>
              <a:t>• Централизованный мониторинг оборудования</a:t>
            </a:r>
          </a:p>
          <a:p>
            <a:r>
              <a:rPr lang="ru-RU" dirty="0"/>
              <a:t>• Оперативное реагирование на критические ситуации</a:t>
            </a:r>
          </a:p>
          <a:p>
            <a:r>
              <a:rPr lang="ru-RU" dirty="0"/>
              <a:t>• Исторический анализ данных</a:t>
            </a:r>
          </a:p>
          <a:p>
            <a:r>
              <a:rPr lang="ru-RU" dirty="0"/>
              <a:t>• Удобство использования для всех категорий пользователей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3B2E77A-6C06-E1DC-4113-3B4C426E36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Перспективы развития: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E2698E5-BDCE-616C-998A-60758956FCDA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ru-RU" dirty="0"/>
              <a:t>• Добавление новых типов оборудования и датчиков</a:t>
            </a:r>
          </a:p>
          <a:p>
            <a:r>
              <a:rPr lang="ru-RU" dirty="0"/>
              <a:t>• Интеграция с внешними системами</a:t>
            </a:r>
          </a:p>
          <a:p>
            <a:r>
              <a:rPr lang="ru-RU" dirty="0"/>
              <a:t>• Расширенная аналитика и отчетность</a:t>
            </a:r>
          </a:p>
          <a:p>
            <a:r>
              <a:rPr lang="ru-RU" dirty="0"/>
              <a:t>• Мобильные уведомления через FCM</a:t>
            </a:r>
          </a:p>
        </p:txBody>
      </p:sp>
    </p:spTree>
    <p:extLst>
      <p:ext uri="{BB962C8B-B14F-4D97-AF65-F5344CB8AC3E}">
        <p14:creationId xmlns:p14="http://schemas.microsoft.com/office/powerpoint/2010/main" val="3932544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CC71AE8A-378A-71A0-7517-0E93605E4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884903"/>
          </a:xfrm>
        </p:spPr>
        <p:txBody>
          <a:bodyPr/>
          <a:lstStyle/>
          <a:p>
            <a:r>
              <a:rPr lang="ru-RU" dirty="0"/>
              <a:t>Заключение: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5E609551-F83C-7265-9ACE-2A8F2B1B1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1612928"/>
            <a:ext cx="5229893" cy="3352780"/>
          </a:xfrm>
        </p:spPr>
        <p:txBody>
          <a:bodyPr>
            <a:normAutofit/>
          </a:bodyPr>
          <a:lstStyle/>
          <a:p>
            <a:r>
              <a:rPr lang="ru-RU" dirty="0"/>
              <a:t>Система мониторинга оборудования Росатом представляет собой</a:t>
            </a:r>
          </a:p>
          <a:p>
            <a:r>
              <a:rPr lang="ru-RU" dirty="0"/>
              <a:t>современное решение для контроля промышленного оборудования,</a:t>
            </a:r>
          </a:p>
          <a:p>
            <a:r>
              <a:rPr lang="ru-RU" dirty="0"/>
              <a:t>обеспечивающее надежность, удобство использования и возможность</a:t>
            </a:r>
          </a:p>
          <a:p>
            <a:r>
              <a:rPr lang="ru-RU" dirty="0"/>
              <a:t>дальнейшего развития.</a:t>
            </a: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FA587BDB-E6F7-81A4-A4FC-4A23A3350A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EC6D24C-E2DE-D0B0-D159-2C231146F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942" y="1612928"/>
            <a:ext cx="4507318" cy="335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683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16</TotalTime>
  <Words>538</Words>
  <Application>Microsoft Office PowerPoint</Application>
  <PresentationFormat>Широкоэкранный</PresentationFormat>
  <Paragraphs>103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Tw Cen MT</vt:lpstr>
      <vt:lpstr>Контур</vt:lpstr>
      <vt:lpstr>ПРЕЗЕНТАЦИЯ ПРИЛОЖЕНИЯ     "Система мониторинга оборудования Росатом"</vt:lpstr>
      <vt:lpstr>АКТУАЛЬНОСТЬ И ЦЕЛЬ ПРОЕКТА</vt:lpstr>
      <vt:lpstr>АРХИТЕКТУРА СИСТЕМЫ</vt:lpstr>
      <vt:lpstr>ФУНКЦИОНАЛЬНОСТЬ – МОНИТОРИНГ Основные возможности:</vt:lpstr>
      <vt:lpstr>ФУНКЦИОНАЛЬНОСТЬ - УВЕДОМЛЕНИЯ И УПРАВЛЕНИЕ</vt:lpstr>
      <vt:lpstr>ТЕХНИЧЕСКИЕ ОСОБЕННОСТИ</vt:lpstr>
      <vt:lpstr>БЕЗОПАСНОСТЬ И НАДЕЖНОСТЬ</vt:lpstr>
      <vt:lpstr>РЕЗУЛЬТАТЫ</vt:lpstr>
      <vt:lpstr>Заключение: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Daniil</dc:creator>
  <cp:lastModifiedBy>Daniil</cp:lastModifiedBy>
  <cp:revision>3</cp:revision>
  <dcterms:created xsi:type="dcterms:W3CDTF">2025-12-15T09:56:17Z</dcterms:created>
  <dcterms:modified xsi:type="dcterms:W3CDTF">2025-12-15T10:12:25Z</dcterms:modified>
</cp:coreProperties>
</file>